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6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Expense &amp; Reimbursement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DBE4FF"/>
                </a:solidFill>
                <a:latin typeface="Calibri"/>
              </a:rPr>
              <a:t>An AI that reads the bills and reads the policy — from a pile of receipts to ready to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DBE4FF"/>
                </a:solidFill>
                <a:latin typeface="Calibri"/>
              </a:rPr>
              <a:t>Competition prototype · all data synthetic · Pydantic AI + Claude ·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C233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67085"/>
                </a:solidFill>
                <a:latin typeface="Calibri"/>
              </a:rPr>
              <a:t>Reimbursement is a tax on every employee and every finance reviewer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C2330"/>
                </a:solidFill>
                <a:latin typeface="Calibri"/>
              </a:rPr>
              <a:t>•  Collect and key in bills</a:t>
            </a:r>
            <a:r>
              <a:rPr sz="2000">
                <a:solidFill>
                  <a:srgbClr val="667085"/>
                </a:solidFill>
                <a:latin typeface="Calibri"/>
              </a:rPr>
              <a:t> — photos, PDFs, foreign currency, crumpled paper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330"/>
                </a:solidFill>
                <a:latin typeface="Calibri"/>
              </a:rPr>
              <a:t>•  Categorise each one</a:t>
            </a:r>
            <a:r>
              <a:rPr sz="2000">
                <a:solidFill>
                  <a:srgbClr val="667085"/>
                </a:solidFill>
                <a:latin typeface="Calibri"/>
              </a:rPr>
              <a:t> — and guess which policy bucket it belongs in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330"/>
                </a:solidFill>
                <a:latin typeface="Calibri"/>
              </a:rPr>
              <a:t>•  Look up the limits</a:t>
            </a:r>
            <a:r>
              <a:rPr sz="2000">
                <a:solidFill>
                  <a:srgbClr val="667085"/>
                </a:solidFill>
                <a:latin typeface="Calibri"/>
              </a:rPr>
              <a:t> — policies live in long documents that change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330"/>
                </a:solidFill>
                <a:latin typeface="Calibri"/>
              </a:rPr>
              <a:t>•  Avoid duplicates and missing details</a:t>
            </a:r>
            <a:r>
              <a:rPr sz="2000">
                <a:solidFill>
                  <a:srgbClr val="667085"/>
                </a:solidFill>
                <a:latin typeface="Calibri"/>
              </a:rPr>
              <a:t> — or the claim bounces back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C2330"/>
                </a:solidFill>
                <a:latin typeface="Calibri"/>
              </a:rPr>
              <a:t>•  Re-submit after rejection</a:t>
            </a:r>
            <a:r>
              <a:rPr sz="2000">
                <a:solidFill>
                  <a:srgbClr val="667085"/>
                </a:solidFill>
                <a:latin typeface="Calibri"/>
              </a:rPr>
              <a:t> — the employee finds out too 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920240"/>
            <a:ext cx="4023360" cy="34747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2103120"/>
            <a:ext cx="35661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Our goal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330"/>
                </a:solidFill>
                <a:latin typeface="Calibri"/>
              </a:rPr>
              <a:t>Drop in the bills. Get a policy-checked, explained, submission-ready claim — answering only what the system cannot work out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C2330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67085"/>
                </a:solidFill>
                <a:latin typeface="Calibri"/>
              </a:rPr>
              <a:t>Six steps, three of them use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737360" cy="23774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228600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1D4ED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9260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C2330"/>
                </a:solidFill>
                <a:latin typeface="Calibri"/>
              </a:rPr>
              <a:t>Drop bills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61188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photos, PDFs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7" y="2194560"/>
            <a:ext cx="1737360" cy="2377440"/>
          </a:xfrm>
          <a:prstGeom prst="roundRect">
            <a:avLst/>
          </a:prstGeom>
          <a:solidFill>
            <a:srgbClr val="D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24327" y="228600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1D4ED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7" y="29260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C2330"/>
                </a:solidFill>
                <a:latin typeface="Calibri"/>
              </a:rPr>
              <a:t>AI reads bills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7" y="361188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vendor, date, total, 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194560"/>
            <a:ext cx="1737360" cy="2377440"/>
          </a:xfrm>
          <a:prstGeom prst="roundRect">
            <a:avLst/>
          </a:prstGeom>
          <a:solidFill>
            <a:srgbClr val="D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228600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1D4ED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9260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C2330"/>
                </a:solidFill>
                <a:latin typeface="Calibri"/>
              </a:rPr>
              <a:t>AI reads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61188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limits, grades, clauses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3" y="2194560"/>
            <a:ext cx="1737360" cy="2377440"/>
          </a:xfrm>
          <a:prstGeom prst="roundRect">
            <a:avLst/>
          </a:prstGeom>
          <a:solidFill>
            <a:srgbClr val="D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3" y="228600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1D4ED8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3" y="29260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C2330"/>
                </a:solidFill>
                <a:latin typeface="Calibri"/>
              </a:rPr>
              <a:t>Classify &amp;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3" y="361188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category, eligible amount, duplicates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1" y="2194560"/>
            <a:ext cx="1737360" cy="23774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1" y="228600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1D4ED8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1" y="29260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C2330"/>
                </a:solidFill>
                <a:latin typeface="Calibri"/>
              </a:rPr>
              <a:t>Ask only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361188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5 questions, not 24 forms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19" y="2194560"/>
            <a:ext cx="1737360" cy="23774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95559" y="228600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1D4ED8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59" y="2926080"/>
            <a:ext cx="1554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C2330"/>
                </a:solidFill>
                <a:latin typeface="Calibri"/>
              </a:rPr>
              <a:t>Submit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59" y="361188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667085"/>
                </a:solidFill>
                <a:latin typeface="Calibri"/>
              </a:rPr>
              <a:t>mock finance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330"/>
                </a:solidFill>
                <a:latin typeface="Calibri"/>
              </a:rPr>
              <a:t>Steps 2–4 use LLMs; every amount is computed by deterministic code, and every AI-extracted rule must quote the policy verbatim.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C2330"/>
                </a:solidFill>
                <a:latin typeface="Calibri"/>
              </a:rPr>
              <a:t>Where AI is used — and where it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67085"/>
                </a:solidFill>
                <a:latin typeface="Calibri"/>
              </a:rPr>
              <a:t>LLMs interpret and judge; plain code does the money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marL="73152" marR="73152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Receipt extraction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LLM (vision)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Messy photos and PDFs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Policy interpretation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LLM + grounding check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Prose in, structured limits out; quotes stop invented rules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Clause lookup for answers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RAG (BM25 over clauses)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Cites the exact clause; offline and free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Bill classification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LLM with reasoning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A judgement call that must be explained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Eligible amount, caps, partial pay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Deterministic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Financial accuracy, reproducible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Duplicates, grouping, claim state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Deterministic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Auditable (image hashing was tested and rejected)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Chat assistant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Agent with tools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330"/>
                          </a:solidFill>
                          <a:latin typeface="Calibri"/>
                        </a:rPr>
                        <a:t>Open-ended follow-ups; reads decisions, never makes them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C2330"/>
                </a:solidFill>
                <a:latin typeface="Calibri"/>
              </a:rPr>
              <a:t>Policy is a document, not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67085"/>
                </a:solidFill>
                <a:latin typeface="Calibri"/>
              </a:rPr>
              <a:t>Edit one sentence — the claim updates, no release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2330"/>
                </a:solidFill>
                <a:latin typeface="Calibri"/>
              </a:rPr>
              <a:t>•  AI reads the policy files</a:t>
            </a:r>
            <a:r>
              <a:rPr sz="1700">
                <a:solidFill>
                  <a:srgbClr val="667085"/>
                </a:solidFill>
                <a:latin typeface="Calibri"/>
              </a:rPr>
              <a:t> — limits, grades, units, partial-pay rules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2330"/>
                </a:solidFill>
                <a:latin typeface="Calibri"/>
              </a:rPr>
              <a:t>•  Each rule carries a verbatim quote</a:t>
            </a:r>
            <a:r>
              <a:rPr sz="1700">
                <a:solidFill>
                  <a:srgbClr val="667085"/>
                </a:solidFill>
                <a:latin typeface="Calibri"/>
              </a:rPr>
              <a:t> — checked against the clause; numbers must appear in the quote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2330"/>
                </a:solidFill>
                <a:latin typeface="Calibri"/>
              </a:rPr>
              <a:t>•  Hotel limit 5,000 → 7,000</a:t>
            </a:r>
            <a:r>
              <a:rPr sz="1700">
                <a:solidFill>
                  <a:srgbClr val="667085"/>
                </a:solidFill>
                <a:latin typeface="Calibri"/>
              </a:rPr>
              <a:t> — reimbursable total moves ₹23,053 → ₹26,549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2330"/>
                </a:solidFill>
                <a:latin typeface="Calibri"/>
              </a:rPr>
              <a:t>•  No code changed</a:t>
            </a:r>
            <a:r>
              <a:rPr sz="1700">
                <a:solidFill>
                  <a:srgbClr val="667085"/>
                </a:solidFill>
                <a:latin typeface="Calibri"/>
              </a:rPr>
              <a:t> — interpretation is cached by document hash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566160"/>
            <a:ext cx="5760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667085"/>
                </a:solidFill>
                <a:latin typeface="Calibri"/>
              </a:rPr>
              <a:t>[screenshot placeholder: 04_policy_changed_no_code.jpg]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8CD39C-913A-43B7-A267-695130CA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42551"/>
            <a:ext cx="6364190" cy="3778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C2330"/>
                </a:solidFill>
                <a:latin typeface="Calibri"/>
              </a:rPr>
              <a:t>Every decision is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67085"/>
                </a:solidFill>
                <a:latin typeface="Calibri"/>
              </a:rPr>
              <a:t>Category, clause, quote, arithmetic and what is still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667085"/>
                </a:solidFill>
                <a:latin typeface="Calibri"/>
              </a:rPr>
              <a:t>[screenshot placeholder: 02_explainable_decision.jpg]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C2330"/>
                </a:solidFill>
                <a:latin typeface="Calibri"/>
              </a:rPr>
              <a:t>•  Why this category</a:t>
            </a:r>
            <a:r>
              <a:rPr sz="1600">
                <a:solidFill>
                  <a:srgbClr val="667085"/>
                </a:solidFill>
                <a:latin typeface="Calibri"/>
              </a:rPr>
              <a:t> — the AI's reasoning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C2330"/>
                </a:solidFill>
                <a:latin typeface="Calibri"/>
              </a:rPr>
              <a:t>•  Which clause</a:t>
            </a:r>
            <a:r>
              <a:rPr sz="1600">
                <a:solidFill>
                  <a:srgbClr val="667085"/>
                </a:solidFill>
                <a:latin typeface="Calibri"/>
              </a:rPr>
              <a:t> — TEP-2.1 and GE-2.2, with quotes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C2330"/>
                </a:solidFill>
                <a:latin typeface="Calibri"/>
              </a:rPr>
              <a:t>•  What is eligible</a:t>
            </a:r>
            <a:r>
              <a:rPr sz="1600">
                <a:solidFill>
                  <a:srgbClr val="667085"/>
                </a:solidFill>
                <a:latin typeface="Calibri"/>
              </a:rPr>
              <a:t> — ₹5,000 of ₹7,168; excess not reimbursable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C2330"/>
                </a:solidFill>
                <a:latin typeface="Calibri"/>
              </a:rPr>
              <a:t>•  What is needed</a:t>
            </a:r>
            <a:r>
              <a:rPr sz="1600">
                <a:solidFill>
                  <a:srgbClr val="667085"/>
                </a:solidFill>
                <a:latin typeface="Calibri"/>
              </a:rPr>
              <a:t> — shown as a question, once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671753-DF15-EC41-1976-1638DA592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08" y="1773506"/>
            <a:ext cx="6596184" cy="4122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C2330"/>
                </a:solidFill>
                <a:latin typeface="Calibri"/>
              </a:rPr>
              <a:t>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67085"/>
                </a:solidFill>
                <a:latin typeface="Calibri"/>
              </a:rPr>
              <a:t>Chat on the left, claim on the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79"/>
            <a:ext cx="5303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667085"/>
                </a:solidFill>
                <a:latin typeface="Calibri"/>
              </a:rPr>
              <a:t>[screenshot placeholder: 01_claim_and_chat.jpg]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59" y="3383279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667085"/>
                </a:solidFill>
                <a:latin typeface="Calibri"/>
              </a:rPr>
              <a:t>[screenshot placeholder: 05_submitted.jpg]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041DD3-647C-EE69-6704-BF755E0C5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54" y="1758462"/>
            <a:ext cx="5426724" cy="33137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39CA6A-A8F0-5D4B-A7FA-32A375997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027" y="1727786"/>
            <a:ext cx="5830112" cy="34616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C2330"/>
                </a:solidFill>
                <a:latin typeface="Calibri"/>
              </a:rPr>
              <a:t>Results on 24 synthetic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67085"/>
                </a:solidFill>
                <a:latin typeface="Calibri"/>
              </a:rPr>
              <a:t>Measured with Claude Sonnet 5.5; 133 automated tests pass, 100% coverage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731520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73152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Vendor, date, total, currency extracted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24 / 24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Category classification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23 / 24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Duplicates found (incl. re-photographed)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3 / 3, no false alarms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Bills auto-excluded with clause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3 (expired, personal, over limit)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Questions asked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5 for 24 receipts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Policy edit applied without code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1737360"/>
            <a:ext cx="3291840" cy="35661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0" y="1920240"/>
            <a:ext cx="29260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C2330"/>
                </a:solidFill>
                <a:latin typeface="Calibri"/>
              </a:rPr>
              <a:t>Free-tier check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C2330"/>
                </a:solidFill>
                <a:latin typeface="Calibri"/>
              </a:rPr>
              <a:t>Gemini 3.8 Flash interpreted the policy identically; the 5 receipts it processed were all correct. 3 hit HTTP 503 overload, so no full-set figure is claimed.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C2330"/>
                </a:solidFill>
                <a:latin typeface="Calibri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67085"/>
                </a:solidFill>
                <a:latin typeface="Calibri"/>
              </a:rPr>
              <a:t>Illustrative model — assumptions are stated and editable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65836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24 receipts</a:t>
                      </a:r>
                    </a:p>
                  </a:txBody>
                  <a:tcPr marL="73152" marR="73152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R="73152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Manual (assume 4 min per receipt)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~96 min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With the agent (5 answers + 3 min review)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~7 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Saved per claim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C2330"/>
                          </a:solidFill>
                          <a:latin typeface="Calibri"/>
                        </a:rPr>
                        <a:t>~89 min (≈90%)</a:t>
                      </a:r>
                    </a:p>
                  </a:txBody>
                  <a:tcPr marL="73152" marR="73152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73736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C2330"/>
                </a:solidFill>
                <a:latin typeface="Calibri"/>
              </a:rPr>
              <a:t>•  Fewer rejected claims</a:t>
            </a:r>
            <a:r>
              <a:rPr sz="1600">
                <a:solidFill>
                  <a:srgbClr val="667085"/>
                </a:solidFill>
                <a:latin typeface="Calibri"/>
              </a:rPr>
              <a:t> — employees see the eligible amount first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2330"/>
                </a:solidFill>
                <a:latin typeface="Calibri"/>
              </a:rPr>
              <a:t>•  Reviewers stop re-checking limits and duplicates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2330"/>
                </a:solidFill>
                <a:latin typeface="Calibri"/>
              </a:rPr>
              <a:t>•  Policy changes ship as a document edit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C2330"/>
                </a:solidFill>
                <a:latin typeface="Calibri"/>
              </a:rPr>
              <a:t>•  Full audit trail</a:t>
            </a:r>
            <a:r>
              <a:rPr sz="1600">
                <a:solidFill>
                  <a:srgbClr val="667085"/>
                </a:solidFill>
                <a:latin typeface="Calibri"/>
              </a:rPr>
              <a:t> — clause, quote and maths per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6583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B54708"/>
                </a:solidFill>
                <a:latin typeface="Calibri"/>
              </a:rPr>
              <a:t>Time figures come from an assumption (4 min per receipt by hand, 30 s per question), not from measurement. See docs/BUSINESS_IMPACT.md.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C2330"/>
                </a:solidFill>
                <a:latin typeface="Calibri"/>
              </a:rPr>
              <a:t>Honest limits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C2330"/>
                </a:solidFill>
                <a:latin typeface="Calibri"/>
              </a:rPr>
              <a:t>•  Synthetic bills only</a:t>
            </a:r>
            <a:r>
              <a:rPr sz="1800">
                <a:solidFill>
                  <a:srgbClr val="667085"/>
                </a:solidFill>
                <a:latin typeface="Calibri"/>
              </a:rPr>
              <a:t> — real receipts are messier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2330"/>
                </a:solidFill>
                <a:latin typeface="Calibri"/>
              </a:rPr>
              <a:t>•  One employee profile and one policy set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2330"/>
                </a:solidFill>
                <a:latin typeface="Calibri"/>
              </a:rPr>
              <a:t>•  Static illustrative FX rates; no authentication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2330"/>
                </a:solidFill>
                <a:latin typeface="Calibri"/>
              </a:rPr>
              <a:t>•  Policy parsing assumes numbered clauses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2330"/>
                </a:solidFill>
                <a:latin typeface="Calibri"/>
              </a:rPr>
              <a:t>•  Free LLM tiers rate-limit; results are cached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C2330"/>
                </a:solidFill>
                <a:latin typeface="Calibri"/>
              </a:rPr>
              <a:t>•  Next</a:t>
            </a:r>
            <a:r>
              <a:rPr sz="1800">
                <a:solidFill>
                  <a:srgbClr val="667085"/>
                </a:solidFill>
                <a:latin typeface="Calibri"/>
              </a:rPr>
              <a:t> — real HRMS grades and location tiers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330"/>
                </a:solidFill>
                <a:latin typeface="Calibri"/>
              </a:rPr>
              <a:t>•  Next</a:t>
            </a:r>
            <a:r>
              <a:rPr sz="1800">
                <a:solidFill>
                  <a:srgbClr val="667085"/>
                </a:solidFill>
                <a:latin typeface="Calibri"/>
              </a:rPr>
              <a:t> — embeddings RAG for large policy libraries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330"/>
                </a:solidFill>
                <a:latin typeface="Calibri"/>
              </a:rPr>
              <a:t>•  Next</a:t>
            </a:r>
            <a:r>
              <a:rPr sz="1800">
                <a:solidFill>
                  <a:srgbClr val="667085"/>
                </a:solidFill>
                <a:latin typeface="Calibri"/>
              </a:rPr>
              <a:t> — multi-category bills and trip-level caps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330"/>
                </a:solidFill>
                <a:latin typeface="Calibri"/>
              </a:rPr>
              <a:t>•  Next</a:t>
            </a:r>
            <a:r>
              <a:rPr sz="1800">
                <a:solidFill>
                  <a:srgbClr val="667085"/>
                </a:solidFill>
                <a:latin typeface="Calibri"/>
              </a:rPr>
              <a:t> — approval workflow and finance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853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Shivapraad Chanduri</cp:lastModifiedBy>
  <cp:revision>2</cp:revision>
  <dcterms:created xsi:type="dcterms:W3CDTF">2013-01-27T09:14:16Z</dcterms:created>
  <dcterms:modified xsi:type="dcterms:W3CDTF">2026-10-12T20:00:39Z</dcterms:modified>
  <cp:category/>
</cp:coreProperties>
</file>