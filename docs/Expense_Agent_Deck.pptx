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Expense &amp; Reimbursement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DBE4FF"/>
                </a:solidFill>
                <a:latin typeface="Calibri"/>
              </a:rPr>
              <a:t>An AI that reads the bills and reads the policy — from a pile of receipts to ready to submit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DBE4FF"/>
                </a:solidFill>
                <a:latin typeface="Calibri"/>
              </a:rPr>
              <a:t>Competition prototype · all data synthetic · Pydantic AI + Claude · FastAPI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C2330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667085"/>
                </a:solidFill>
                <a:latin typeface="Calibri"/>
              </a:rPr>
              <a:t>Reimbursement is a tax on every employee and every finance reviewer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6583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1C2330"/>
                </a:solidFill>
                <a:latin typeface="Calibri"/>
              </a:rPr>
              <a:t>•  Collect and key in bills</a:t>
            </a:r>
            <a:r>
              <a:rPr sz="2000">
                <a:solidFill>
                  <a:srgbClr val="667085"/>
                </a:solidFill>
                <a:latin typeface="Calibri"/>
              </a:rPr>
              <a:t> — photos, PDFs, foreign currency, crumpled paper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C2330"/>
                </a:solidFill>
                <a:latin typeface="Calibri"/>
              </a:rPr>
              <a:t>•  Categorise each one</a:t>
            </a:r>
            <a:r>
              <a:rPr sz="2000">
                <a:solidFill>
                  <a:srgbClr val="667085"/>
                </a:solidFill>
                <a:latin typeface="Calibri"/>
              </a:rPr>
              <a:t> — and guess which policy bucket it belongs in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C2330"/>
                </a:solidFill>
                <a:latin typeface="Calibri"/>
              </a:rPr>
              <a:t>•  Look up the limits</a:t>
            </a:r>
            <a:r>
              <a:rPr sz="2000">
                <a:solidFill>
                  <a:srgbClr val="667085"/>
                </a:solidFill>
                <a:latin typeface="Calibri"/>
              </a:rPr>
              <a:t> — policies live in long documents that change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C2330"/>
                </a:solidFill>
                <a:latin typeface="Calibri"/>
              </a:rPr>
              <a:t>•  Avoid duplicates and missing details</a:t>
            </a:r>
            <a:r>
              <a:rPr sz="2000">
                <a:solidFill>
                  <a:srgbClr val="667085"/>
                </a:solidFill>
                <a:latin typeface="Calibri"/>
              </a:rPr>
              <a:t> — or the claim bounces back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C2330"/>
                </a:solidFill>
                <a:latin typeface="Calibri"/>
              </a:rPr>
              <a:t>•  Re-submit after rejection</a:t>
            </a:r>
            <a:r>
              <a:rPr sz="2000">
                <a:solidFill>
                  <a:srgbClr val="667085"/>
                </a:solidFill>
                <a:latin typeface="Calibri"/>
              </a:rPr>
              <a:t> — the employee finds out too late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1920240"/>
            <a:ext cx="4023360" cy="347472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79" y="2103120"/>
            <a:ext cx="35661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D4ED8"/>
                </a:solidFill>
                <a:latin typeface="Calibri"/>
              </a:rPr>
              <a:t>Our goal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C2330"/>
                </a:solidFill>
                <a:latin typeface="Calibri"/>
              </a:rPr>
              <a:t>Drop in the bills. Get a policy-checked, explained, submission-ready claim — answering only what the system cannot work out itself.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C2330"/>
                </a:solidFill>
                <a:latin typeface="Calibri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667085"/>
                </a:solidFill>
                <a:latin typeface="Calibri"/>
              </a:rPr>
              <a:t>Six steps, three of them use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1737360" cy="237744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2286000"/>
            <a:ext cx="1554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3000" b="1">
                <a:solidFill>
                  <a:srgbClr val="1D4ED8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926080"/>
            <a:ext cx="1554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1C2330"/>
                </a:solidFill>
                <a:latin typeface="Calibri"/>
              </a:rPr>
              <a:t>Drop bills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3611880"/>
            <a:ext cx="1554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>
                <a:solidFill>
                  <a:srgbClr val="667085"/>
                </a:solidFill>
                <a:latin typeface="Calibri"/>
              </a:rPr>
              <a:t>photos, PDFs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32887" y="2194560"/>
            <a:ext cx="1737360" cy="2377440"/>
          </a:xfrm>
          <a:prstGeom prst="roundRect">
            <a:avLst/>
          </a:prstGeom>
          <a:solidFill>
            <a:srgbClr val="DBE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24327" y="2286000"/>
            <a:ext cx="1554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3000" b="1">
                <a:solidFill>
                  <a:srgbClr val="1D4ED8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4327" y="2926080"/>
            <a:ext cx="1554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1C2330"/>
                </a:solidFill>
                <a:latin typeface="Calibri"/>
              </a:rPr>
              <a:t>AI reads bills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4327" y="3611880"/>
            <a:ext cx="1554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>
                <a:solidFill>
                  <a:srgbClr val="667085"/>
                </a:solidFill>
                <a:latin typeface="Calibri"/>
              </a:rPr>
              <a:t>vendor, date, total, items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25696" y="2194560"/>
            <a:ext cx="1737360" cy="2377440"/>
          </a:xfrm>
          <a:prstGeom prst="roundRect">
            <a:avLst/>
          </a:prstGeom>
          <a:solidFill>
            <a:srgbClr val="DBE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7136" y="2286000"/>
            <a:ext cx="1554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3000" b="1">
                <a:solidFill>
                  <a:srgbClr val="1D4ED8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7136" y="2926080"/>
            <a:ext cx="1554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1C2330"/>
                </a:solidFill>
                <a:latin typeface="Calibri"/>
              </a:rPr>
              <a:t>AI reads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7136" y="3611880"/>
            <a:ext cx="1554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>
                <a:solidFill>
                  <a:srgbClr val="667085"/>
                </a:solidFill>
                <a:latin typeface="Calibri"/>
              </a:rPr>
              <a:t>limits, grades, clauses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18503" y="2194560"/>
            <a:ext cx="1737360" cy="2377440"/>
          </a:xfrm>
          <a:prstGeom prst="roundRect">
            <a:avLst/>
          </a:prstGeom>
          <a:solidFill>
            <a:srgbClr val="DBE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9943" y="2286000"/>
            <a:ext cx="1554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3000" b="1">
                <a:solidFill>
                  <a:srgbClr val="1D4ED8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9943" y="2926080"/>
            <a:ext cx="1554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1C2330"/>
                </a:solidFill>
                <a:latin typeface="Calibri"/>
              </a:rPr>
              <a:t>Classify &amp; 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3" y="3611880"/>
            <a:ext cx="1554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>
                <a:solidFill>
                  <a:srgbClr val="667085"/>
                </a:solidFill>
                <a:latin typeface="Calibri"/>
              </a:rPr>
              <a:t>category, eligible amount, duplicates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11311" y="2194560"/>
            <a:ext cx="1737360" cy="237744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1" y="2286000"/>
            <a:ext cx="1554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3000" b="1">
                <a:solidFill>
                  <a:srgbClr val="1D4ED8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2751" y="2926080"/>
            <a:ext cx="1554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1C2330"/>
                </a:solidFill>
                <a:latin typeface="Calibri"/>
              </a:rPr>
              <a:t>Ask only gaps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1" y="3611880"/>
            <a:ext cx="1554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>
                <a:solidFill>
                  <a:srgbClr val="667085"/>
                </a:solidFill>
                <a:latin typeface="Calibri"/>
              </a:rPr>
              <a:t>5 questions, not 24 forms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04119" y="2194560"/>
            <a:ext cx="1737360" cy="237744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95559" y="2286000"/>
            <a:ext cx="1554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3000" b="1">
                <a:solidFill>
                  <a:srgbClr val="1D4ED8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5559" y="2926080"/>
            <a:ext cx="1554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1C2330"/>
                </a:solidFill>
                <a:latin typeface="Calibri"/>
              </a:rPr>
              <a:t>Submit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5559" y="3611880"/>
            <a:ext cx="1554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>
                <a:solidFill>
                  <a:srgbClr val="667085"/>
                </a:solidFill>
                <a:latin typeface="Calibri"/>
              </a:rPr>
              <a:t>mock finance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0292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C2330"/>
                </a:solidFill>
                <a:latin typeface="Calibri"/>
              </a:rPr>
              <a:t>Steps 2–4 use LLMs; every amount is computed by deterministic code, and every AI-extracted rule must quote the policy verbatim.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C2330"/>
                </a:solidFill>
                <a:latin typeface="Calibri"/>
              </a:rPr>
              <a:t>Where AI is used — and where it is not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667085"/>
                </a:solidFill>
                <a:latin typeface="Calibri"/>
              </a:rPr>
              <a:t>LLMs interpret and judge; plain code does the money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881360" cy="4242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2743200"/>
                <a:gridCol w="4754880"/>
              </a:tblGrid>
              <a:tr h="53035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73152" marR="73152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Technique</a:t>
                      </a:r>
                    </a:p>
                  </a:txBody>
                  <a:tcPr marL="73152" marR="73152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73152" marR="73152">
                    <a:solidFill>
                      <a:srgbClr val="1D4ED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2330"/>
                          </a:solidFill>
                          <a:latin typeface="Calibri"/>
                        </a:rPr>
                        <a:t>Receipt extraction</a:t>
                      </a:r>
                    </a:p>
                  </a:txBody>
                  <a:tcPr marL="73152" marR="73152">
                    <a:solidFill>
                      <a:srgbClr val="F8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2330"/>
                          </a:solidFill>
                          <a:latin typeface="Calibri"/>
                        </a:rPr>
                        <a:t>LLM (vision)</a:t>
                      </a:r>
                    </a:p>
                  </a:txBody>
                  <a:tcPr marL="73152" marR="73152">
                    <a:solidFill>
                      <a:srgbClr val="F8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2330"/>
                          </a:solidFill>
                          <a:latin typeface="Calibri"/>
                        </a:rPr>
                        <a:t>Messy photos and PDFs</a:t>
                      </a:r>
                    </a:p>
                  </a:txBody>
                  <a:tcPr marL="73152" marR="73152">
                    <a:solidFill>
                      <a:srgbClr val="F8F9F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2330"/>
                          </a:solidFill>
                          <a:latin typeface="Calibri"/>
                        </a:rPr>
                        <a:t>Policy interpretation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2330"/>
                          </a:solidFill>
                          <a:latin typeface="Calibri"/>
                        </a:rPr>
                        <a:t>LLM + grounding check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2330"/>
                          </a:solidFill>
                          <a:latin typeface="Calibri"/>
                        </a:rPr>
                        <a:t>Prose in, structured limits out; quotes stop invented rules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2330"/>
                          </a:solidFill>
                          <a:latin typeface="Calibri"/>
                        </a:rPr>
                        <a:t>Clause lookup for answers</a:t>
                      </a:r>
                    </a:p>
                  </a:txBody>
                  <a:tcPr marL="73152" marR="73152">
                    <a:solidFill>
                      <a:srgbClr val="F8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2330"/>
                          </a:solidFill>
                          <a:latin typeface="Calibri"/>
                        </a:rPr>
                        <a:t>RAG (BM25 over clauses)</a:t>
                      </a:r>
                    </a:p>
                  </a:txBody>
                  <a:tcPr marL="73152" marR="73152">
                    <a:solidFill>
                      <a:srgbClr val="F8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2330"/>
                          </a:solidFill>
                          <a:latin typeface="Calibri"/>
                        </a:rPr>
                        <a:t>Cites the exact clause; offline and free</a:t>
                      </a:r>
                    </a:p>
                  </a:txBody>
                  <a:tcPr marL="73152" marR="73152">
                    <a:solidFill>
                      <a:srgbClr val="F8F9F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2330"/>
                          </a:solidFill>
                          <a:latin typeface="Calibri"/>
                        </a:rPr>
                        <a:t>Bill classification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2330"/>
                          </a:solidFill>
                          <a:latin typeface="Calibri"/>
                        </a:rPr>
                        <a:t>LLM with reasoning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2330"/>
                          </a:solidFill>
                          <a:latin typeface="Calibri"/>
                        </a:rPr>
                        <a:t>A judgement call that must be explained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2330"/>
                          </a:solidFill>
                          <a:latin typeface="Calibri"/>
                        </a:rPr>
                        <a:t>Eligible amount, caps, partial pay</a:t>
                      </a:r>
                    </a:p>
                  </a:txBody>
                  <a:tcPr marL="73152" marR="73152">
                    <a:solidFill>
                      <a:srgbClr val="F8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2330"/>
                          </a:solidFill>
                          <a:latin typeface="Calibri"/>
                        </a:rPr>
                        <a:t>Deterministic</a:t>
                      </a:r>
                    </a:p>
                  </a:txBody>
                  <a:tcPr marL="73152" marR="73152">
                    <a:solidFill>
                      <a:srgbClr val="F8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2330"/>
                          </a:solidFill>
                          <a:latin typeface="Calibri"/>
                        </a:rPr>
                        <a:t>Financial accuracy, reproducible</a:t>
                      </a:r>
                    </a:p>
                  </a:txBody>
                  <a:tcPr marL="73152" marR="73152">
                    <a:solidFill>
                      <a:srgbClr val="F8F9F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2330"/>
                          </a:solidFill>
                          <a:latin typeface="Calibri"/>
                        </a:rPr>
                        <a:t>Duplicates, grouping, claim state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2330"/>
                          </a:solidFill>
                          <a:latin typeface="Calibri"/>
                        </a:rPr>
                        <a:t>Deterministic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2330"/>
                          </a:solidFill>
                          <a:latin typeface="Calibri"/>
                        </a:rPr>
                        <a:t>Auditable (image hashing was tested and rejected)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2330"/>
                          </a:solidFill>
                          <a:latin typeface="Calibri"/>
                        </a:rPr>
                        <a:t>Chat assistant</a:t>
                      </a:r>
                    </a:p>
                  </a:txBody>
                  <a:tcPr marL="73152" marR="73152">
                    <a:solidFill>
                      <a:srgbClr val="F8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2330"/>
                          </a:solidFill>
                          <a:latin typeface="Calibri"/>
                        </a:rPr>
                        <a:t>Agent with tools</a:t>
                      </a:r>
                    </a:p>
                  </a:txBody>
                  <a:tcPr marL="73152" marR="73152">
                    <a:solidFill>
                      <a:srgbClr val="F8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2330"/>
                          </a:solidFill>
                          <a:latin typeface="Calibri"/>
                        </a:rPr>
                        <a:t>Open-ended follow-ups; reads decisions, never makes them</a:t>
                      </a:r>
                    </a:p>
                  </a:txBody>
                  <a:tcPr marL="73152" marR="73152">
                    <a:solidFill>
                      <a:srgbClr val="F8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C2330"/>
                </a:solidFill>
                <a:latin typeface="Calibri"/>
              </a:rPr>
              <a:t>Policy is a document, not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667085"/>
                </a:solidFill>
                <a:latin typeface="Calibri"/>
              </a:rPr>
              <a:t>Edit one sentence — the claim updates, no release needed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1C2330"/>
                </a:solidFill>
                <a:latin typeface="Calibri"/>
              </a:rPr>
              <a:t>•  AI reads the policy files</a:t>
            </a:r>
            <a:r>
              <a:rPr sz="1700">
                <a:solidFill>
                  <a:srgbClr val="667085"/>
                </a:solidFill>
                <a:latin typeface="Calibri"/>
              </a:rPr>
              <a:t> — limits, grades, units, partial-pay rules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C2330"/>
                </a:solidFill>
                <a:latin typeface="Calibri"/>
              </a:rPr>
              <a:t>•  Each rule carries a verbatim quote</a:t>
            </a:r>
            <a:r>
              <a:rPr sz="1700">
                <a:solidFill>
                  <a:srgbClr val="667085"/>
                </a:solidFill>
                <a:latin typeface="Calibri"/>
              </a:rPr>
              <a:t> — checked against the clause; numbers must appear in the quote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C2330"/>
                </a:solidFill>
                <a:latin typeface="Calibri"/>
              </a:rPr>
              <a:t>•  Hotel limit 5,000 → 7,000</a:t>
            </a:r>
            <a:r>
              <a:rPr sz="1700">
                <a:solidFill>
                  <a:srgbClr val="667085"/>
                </a:solidFill>
                <a:latin typeface="Calibri"/>
              </a:rPr>
              <a:t> — reimbursable total moves ₹23,053 → ₹26,549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C2330"/>
                </a:solidFill>
                <a:latin typeface="Calibri"/>
              </a:rPr>
              <a:t>•  No code changed</a:t>
            </a:r>
            <a:r>
              <a:rPr sz="1700">
                <a:solidFill>
                  <a:srgbClr val="667085"/>
                </a:solidFill>
                <a:latin typeface="Calibri"/>
              </a:rPr>
              <a:t> — interpretation is cached by document hash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645920"/>
            <a:ext cx="6309360" cy="457200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0" y="3566160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0">
                <a:solidFill>
                  <a:srgbClr val="667085"/>
                </a:solidFill>
                <a:latin typeface="Calibri"/>
              </a:rPr>
              <a:t>[screenshot placeholder: 04_policy_changed_no_code.jpg]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C2330"/>
                </a:solidFill>
                <a:latin typeface="Calibri"/>
              </a:rPr>
              <a:t>Every decision is explained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667085"/>
                </a:solidFill>
                <a:latin typeface="Calibri"/>
              </a:rPr>
              <a:t>Category, clause, quote, arithmetic and what is still needed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6949440" cy="457200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6400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0">
                <a:solidFill>
                  <a:srgbClr val="667085"/>
                </a:solidFill>
                <a:latin typeface="Calibri"/>
              </a:rPr>
              <a:t>[screenshot placeholder: 02_explainable_decision.jpg]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C2330"/>
                </a:solidFill>
                <a:latin typeface="Calibri"/>
              </a:rPr>
              <a:t>•  Why this category</a:t>
            </a:r>
            <a:r>
              <a:rPr sz="1600">
                <a:solidFill>
                  <a:srgbClr val="667085"/>
                </a:solidFill>
                <a:latin typeface="Calibri"/>
              </a:rPr>
              <a:t> — the AI's reasoning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C2330"/>
                </a:solidFill>
                <a:latin typeface="Calibri"/>
              </a:rPr>
              <a:t>•  Which clause</a:t>
            </a:r>
            <a:r>
              <a:rPr sz="1600">
                <a:solidFill>
                  <a:srgbClr val="667085"/>
                </a:solidFill>
                <a:latin typeface="Calibri"/>
              </a:rPr>
              <a:t> — TEP-2.1 and GE-2.2, with quotes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C2330"/>
                </a:solidFill>
                <a:latin typeface="Calibri"/>
              </a:rPr>
              <a:t>•  What is eligible</a:t>
            </a:r>
            <a:r>
              <a:rPr sz="1600">
                <a:solidFill>
                  <a:srgbClr val="667085"/>
                </a:solidFill>
                <a:latin typeface="Calibri"/>
              </a:rPr>
              <a:t> — ₹5,000 of ₹7,168; excess not reimbursable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C2330"/>
                </a:solidFill>
                <a:latin typeface="Calibri"/>
              </a:rPr>
              <a:t>•  What is needed</a:t>
            </a:r>
            <a:r>
              <a:rPr sz="1600">
                <a:solidFill>
                  <a:srgbClr val="667085"/>
                </a:solidFill>
                <a:latin typeface="Calibri"/>
              </a:rPr>
              <a:t> — shown as a question, once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C2330"/>
                </a:solidFill>
                <a:latin typeface="Calibri"/>
              </a:rPr>
              <a:t>The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667085"/>
                </a:solidFill>
                <a:latin typeface="Calibri"/>
              </a:rPr>
              <a:t>Chat on the left, claim on the right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5852160" cy="420624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383279"/>
            <a:ext cx="5303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0">
                <a:solidFill>
                  <a:srgbClr val="667085"/>
                </a:solidFill>
                <a:latin typeface="Calibri"/>
              </a:rPr>
              <a:t>[screenshot placeholder: 01_claim_and_chat.jpg]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645920"/>
            <a:ext cx="5303520" cy="420624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59" y="3383279"/>
            <a:ext cx="4754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0">
                <a:solidFill>
                  <a:srgbClr val="667085"/>
                </a:solidFill>
                <a:latin typeface="Calibri"/>
              </a:rPr>
              <a:t>[screenshot placeholder: 05_submitted.jpg]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C2330"/>
                </a:solidFill>
                <a:latin typeface="Calibri"/>
              </a:rPr>
              <a:t>Results on 24 synthetic receipts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667085"/>
                </a:solidFill>
                <a:latin typeface="Calibri"/>
              </a:rPr>
              <a:t>Measured with Claude Sonnet 5.5; 133 automated tests pass, 100% coverage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7315200" cy="3584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2743200"/>
              </a:tblGrid>
              <a:tr h="512064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Measure</a:t>
                      </a:r>
                    </a:p>
                  </a:txBody>
                  <a:tcPr marL="73152" marR="73152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73152" marR="73152">
                    <a:solidFill>
                      <a:srgbClr val="1D4ED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C2330"/>
                          </a:solidFill>
                          <a:latin typeface="Calibri"/>
                        </a:rPr>
                        <a:t>Vendor, date, total, currency extracted</a:t>
                      </a:r>
                    </a:p>
                  </a:txBody>
                  <a:tcPr marL="73152" marR="73152">
                    <a:solidFill>
                      <a:srgbClr val="F8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C2330"/>
                          </a:solidFill>
                          <a:latin typeface="Calibri"/>
                        </a:rPr>
                        <a:t>24 / 24</a:t>
                      </a:r>
                    </a:p>
                  </a:txBody>
                  <a:tcPr marL="73152" marR="73152">
                    <a:solidFill>
                      <a:srgbClr val="F8F9F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C2330"/>
                          </a:solidFill>
                          <a:latin typeface="Calibri"/>
                        </a:rPr>
                        <a:t>Category classification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C2330"/>
                          </a:solidFill>
                          <a:latin typeface="Calibri"/>
                        </a:rPr>
                        <a:t>23 / 24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C2330"/>
                          </a:solidFill>
                          <a:latin typeface="Calibri"/>
                        </a:rPr>
                        <a:t>Duplicates found (incl. re-photographed)</a:t>
                      </a:r>
                    </a:p>
                  </a:txBody>
                  <a:tcPr marL="73152" marR="73152">
                    <a:solidFill>
                      <a:srgbClr val="F8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C2330"/>
                          </a:solidFill>
                          <a:latin typeface="Calibri"/>
                        </a:rPr>
                        <a:t>3 / 3, no false alarms</a:t>
                      </a:r>
                    </a:p>
                  </a:txBody>
                  <a:tcPr marL="73152" marR="73152">
                    <a:solidFill>
                      <a:srgbClr val="F8F9F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C2330"/>
                          </a:solidFill>
                          <a:latin typeface="Calibri"/>
                        </a:rPr>
                        <a:t>Bills auto-excluded with clause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C2330"/>
                          </a:solidFill>
                          <a:latin typeface="Calibri"/>
                        </a:rPr>
                        <a:t>3 (expired, personal, over limit)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C2330"/>
                          </a:solidFill>
                          <a:latin typeface="Calibri"/>
                        </a:rPr>
                        <a:t>Questions asked</a:t>
                      </a:r>
                    </a:p>
                  </a:txBody>
                  <a:tcPr marL="73152" marR="73152">
                    <a:solidFill>
                      <a:srgbClr val="F8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C2330"/>
                          </a:solidFill>
                          <a:latin typeface="Calibri"/>
                        </a:rPr>
                        <a:t>5 for 24 receipts</a:t>
                      </a:r>
                    </a:p>
                  </a:txBody>
                  <a:tcPr marL="73152" marR="73152">
                    <a:solidFill>
                      <a:srgbClr val="F8F9F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C2330"/>
                          </a:solidFill>
                          <a:latin typeface="Calibri"/>
                        </a:rPr>
                        <a:t>Policy edit applied without code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C233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412480" y="1737360"/>
            <a:ext cx="3291840" cy="35661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0" y="1920240"/>
            <a:ext cx="29260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2330"/>
                </a:solidFill>
                <a:latin typeface="Calibri"/>
              </a:rPr>
              <a:t>Free-tier check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C2330"/>
                </a:solidFill>
                <a:latin typeface="Calibri"/>
              </a:rPr>
              <a:t>Gemini 3.8 Flash interpreted the policy identically; the 5 receipts it processed were all correct. 3 hit HTTP 503 overload, so no full-set figure is claimed.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C2330"/>
                </a:solidFill>
                <a:latin typeface="Calibri"/>
              </a:rPr>
              <a:t>Business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667085"/>
                </a:solidFill>
                <a:latin typeface="Calibri"/>
              </a:rPr>
              <a:t>Illustrative model — assumptions are stated and editable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658368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37744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24 receipts</a:t>
                      </a:r>
                    </a:p>
                  </a:txBody>
                  <a:tcPr marL="73152" marR="73152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R="73152">
                    <a:solidFill>
                      <a:srgbClr val="1D4ED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C2330"/>
                          </a:solidFill>
                          <a:latin typeface="Calibri"/>
                        </a:rPr>
                        <a:t>Manual (assume 4 min per receipt)</a:t>
                      </a:r>
                    </a:p>
                  </a:txBody>
                  <a:tcPr marL="73152" marR="73152">
                    <a:solidFill>
                      <a:srgbClr val="F8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C2330"/>
                          </a:solidFill>
                          <a:latin typeface="Calibri"/>
                        </a:rPr>
                        <a:t>~96 min</a:t>
                      </a:r>
                    </a:p>
                  </a:txBody>
                  <a:tcPr marL="73152" marR="73152">
                    <a:solidFill>
                      <a:srgbClr val="F8F9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C2330"/>
                          </a:solidFill>
                          <a:latin typeface="Calibri"/>
                        </a:rPr>
                        <a:t>With the agent (5 answers + 3 min review)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C2330"/>
                          </a:solidFill>
                          <a:latin typeface="Calibri"/>
                        </a:rPr>
                        <a:t>~7 min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C2330"/>
                          </a:solidFill>
                          <a:latin typeface="Calibri"/>
                        </a:rPr>
                        <a:t>Saved per claim</a:t>
                      </a:r>
                    </a:p>
                  </a:txBody>
                  <a:tcPr marL="73152" marR="73152">
                    <a:solidFill>
                      <a:srgbClr val="F8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C2330"/>
                          </a:solidFill>
                          <a:latin typeface="Calibri"/>
                        </a:rPr>
                        <a:t>~89 min (≈90%)</a:t>
                      </a:r>
                    </a:p>
                  </a:txBody>
                  <a:tcPr marL="73152" marR="73152">
                    <a:solidFill>
                      <a:srgbClr val="F8F9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589520" y="1737360"/>
            <a:ext cx="4206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C2330"/>
                </a:solidFill>
                <a:latin typeface="Calibri"/>
              </a:rPr>
              <a:t>•  Fewer rejected claims</a:t>
            </a:r>
            <a:r>
              <a:rPr sz="1600">
                <a:solidFill>
                  <a:srgbClr val="667085"/>
                </a:solidFill>
                <a:latin typeface="Calibri"/>
              </a:rPr>
              <a:t> — employees see the eligible amount first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C2330"/>
                </a:solidFill>
                <a:latin typeface="Calibri"/>
              </a:rPr>
              <a:t>•  Reviewers stop re-checking limits and duplicates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C2330"/>
                </a:solidFill>
                <a:latin typeface="Calibri"/>
              </a:rPr>
              <a:t>•  Policy changes ship as a document edit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C2330"/>
                </a:solidFill>
                <a:latin typeface="Calibri"/>
              </a:rPr>
              <a:t>•  Full audit trail</a:t>
            </a:r>
            <a:r>
              <a:rPr sz="1600">
                <a:solidFill>
                  <a:srgbClr val="667085"/>
                </a:solidFill>
                <a:latin typeface="Calibri"/>
              </a:rPr>
              <a:t> — clause, quote and maths per item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6583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B54708"/>
                </a:solidFill>
                <a:latin typeface="Calibri"/>
              </a:rPr>
              <a:t>Time figures come from an assumption (4 min per receipt by hand, 30 s per question), not from measurement. See docs/BUSINESS_IMPACT.md.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C2330"/>
                </a:solidFill>
                <a:latin typeface="Calibri"/>
              </a:rPr>
              <a:t>Honest limits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C2330"/>
                </a:solidFill>
                <a:latin typeface="Calibri"/>
              </a:rPr>
              <a:t>•  Synthetic bills only</a:t>
            </a:r>
            <a:r>
              <a:rPr sz="1800">
                <a:solidFill>
                  <a:srgbClr val="667085"/>
                </a:solidFill>
                <a:latin typeface="Calibri"/>
              </a:rPr>
              <a:t> — real receipts are messier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C2330"/>
                </a:solidFill>
                <a:latin typeface="Calibri"/>
              </a:rPr>
              <a:t>•  One employee profile and one policy set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C2330"/>
                </a:solidFill>
                <a:latin typeface="Calibri"/>
              </a:rPr>
              <a:t>•  Static illustrative FX rates; no authentication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C2330"/>
                </a:solidFill>
                <a:latin typeface="Calibri"/>
              </a:rPr>
              <a:t>•  Policy parsing assumes numbered clauses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C2330"/>
                </a:solidFill>
                <a:latin typeface="Calibri"/>
              </a:rPr>
              <a:t>•  Free LLM tiers rate-limit; results are cached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55448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C2330"/>
                </a:solidFill>
                <a:latin typeface="Calibri"/>
              </a:rPr>
              <a:t>•  Next</a:t>
            </a:r>
            <a:r>
              <a:rPr sz="1800">
                <a:solidFill>
                  <a:srgbClr val="667085"/>
                </a:solidFill>
                <a:latin typeface="Calibri"/>
              </a:rPr>
              <a:t> — real HRMS grades and location tiers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C2330"/>
                </a:solidFill>
                <a:latin typeface="Calibri"/>
              </a:rPr>
              <a:t>•  Next</a:t>
            </a:r>
            <a:r>
              <a:rPr sz="1800">
                <a:solidFill>
                  <a:srgbClr val="667085"/>
                </a:solidFill>
                <a:latin typeface="Calibri"/>
              </a:rPr>
              <a:t> — embeddings RAG for large policy libraries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C2330"/>
                </a:solidFill>
                <a:latin typeface="Calibri"/>
              </a:rPr>
              <a:t>•  Next</a:t>
            </a:r>
            <a:r>
              <a:rPr sz="1800">
                <a:solidFill>
                  <a:srgbClr val="667085"/>
                </a:solidFill>
                <a:latin typeface="Calibri"/>
              </a:rPr>
              <a:t> — multi-category bills and trip-level caps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C2330"/>
                </a:solidFill>
                <a:latin typeface="Calibri"/>
              </a:rPr>
              <a:t>•  Next</a:t>
            </a:r>
            <a:r>
              <a:rPr sz="1800">
                <a:solidFill>
                  <a:srgbClr val="667085"/>
                </a:solidFill>
                <a:latin typeface="Calibri"/>
              </a:rPr>
              <a:t> — approval workflow and finance integration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